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10"/>
  </p:notesMasterIdLst>
  <p:sldIdLst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embeddedFontLst>
    <p:embeddedFont>
      <p:font typeface="Arial Black" panose="020B0A04020102020204" pitchFamily="34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4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8EDDC4-6DC3-4A22-B8D5-9852A7BA7351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64562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83854" y="3546763"/>
            <a:ext cx="9624291" cy="74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 b="1"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523999" y="4534334"/>
            <a:ext cx="9144000" cy="83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" name="Google Shape;12;p2"/>
          <p:cNvSpPr txBox="1"/>
          <p:nvPr/>
        </p:nvSpPr>
        <p:spPr>
          <a:xfrm>
            <a:off x="1676399" y="6190096"/>
            <a:ext cx="9144000" cy="3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100000"/>
              <a:buFont typeface="Arial"/>
              <a:buNone/>
            </a:pPr>
            <a:r>
              <a:rPr lang="en-US" sz="24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We build dreams without limits! | www.usep.edu.ph</a:t>
            </a:r>
            <a:endParaRPr sz="24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9" y="584887"/>
            <a:ext cx="8979243" cy="5050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283854" y="3701180"/>
            <a:ext cx="9624291" cy="74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 b="1"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523999" y="4534334"/>
            <a:ext cx="9144000" cy="83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1676399" y="6190096"/>
            <a:ext cx="9144000" cy="3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build dreams without limits! | www.usep.edu.ph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2"/>
          </p:nvPr>
        </p:nvSpPr>
        <p:spPr>
          <a:xfrm>
            <a:off x="1283853" y="2610941"/>
            <a:ext cx="9623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0" name="Google Shape;20;p3"/>
          <p:cNvPicPr preferRelativeResize="0"/>
          <p:nvPr/>
        </p:nvPicPr>
        <p:blipFill rotWithShape="1">
          <a:blip r:embed="rId3">
            <a:alphaModFix/>
          </a:blip>
          <a:srcRect b="58537"/>
          <a:stretch/>
        </p:blipFill>
        <p:spPr>
          <a:xfrm>
            <a:off x="1523999" y="360666"/>
            <a:ext cx="8979243" cy="20942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 descr="A red background with a pattern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ctrTitle"/>
          </p:nvPr>
        </p:nvSpPr>
        <p:spPr>
          <a:xfrm>
            <a:off x="1283854" y="3333506"/>
            <a:ext cx="9624291" cy="87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1524000" y="4296517"/>
            <a:ext cx="9144000" cy="622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1676399" y="6190096"/>
            <a:ext cx="9144000" cy="3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build dreams without limits! | www.usep.edu.ph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4"/>
          <p:cNvPicPr preferRelativeResize="0"/>
          <p:nvPr/>
        </p:nvPicPr>
        <p:blipFill rotWithShape="1">
          <a:blip r:embed="rId3">
            <a:alphaModFix/>
          </a:blip>
          <a:srcRect b="58537"/>
          <a:stretch/>
        </p:blipFill>
        <p:spPr>
          <a:xfrm>
            <a:off x="1187164" y="679947"/>
            <a:ext cx="9720981" cy="226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 descr="A red background with a pattern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>
            <a:spLocks noGrp="1"/>
          </p:cNvSpPr>
          <p:nvPr>
            <p:ph type="ctrTitle"/>
          </p:nvPr>
        </p:nvSpPr>
        <p:spPr>
          <a:xfrm>
            <a:off x="1283854" y="3680745"/>
            <a:ext cx="9624291" cy="87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1524000" y="4643756"/>
            <a:ext cx="9144000" cy="622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1" name="Google Shape;31;p5"/>
          <p:cNvSpPr txBox="1"/>
          <p:nvPr/>
        </p:nvSpPr>
        <p:spPr>
          <a:xfrm>
            <a:off x="1676399" y="6190096"/>
            <a:ext cx="9144000" cy="3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 build dreams without limits! | www.usep.edu.ph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1284719" y="2805729"/>
            <a:ext cx="9623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3" name="Google Shape;33;p5"/>
          <p:cNvPicPr preferRelativeResize="0"/>
          <p:nvPr/>
        </p:nvPicPr>
        <p:blipFill rotWithShape="1">
          <a:blip r:embed="rId3">
            <a:alphaModFix/>
          </a:blip>
          <a:srcRect b="58537"/>
          <a:stretch/>
        </p:blipFill>
        <p:spPr>
          <a:xfrm>
            <a:off x="1187164" y="499409"/>
            <a:ext cx="9720981" cy="2267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wo Content">
  <p:cSld name="4_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502533" y="1253331"/>
            <a:ext cx="11014277" cy="462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4906460" y="252563"/>
            <a:ext cx="661035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/>
          <p:nvPr/>
        </p:nvSpPr>
        <p:spPr>
          <a:xfrm>
            <a:off x="0" y="6624904"/>
            <a:ext cx="12109622" cy="3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2026 University of Southeastern Philippines |</a:t>
            </a:r>
            <a:r>
              <a:rPr lang="en-US" sz="8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All Rights Reserved. This presentation contains confidential and proprietary information. Photography, video, and audio recording of these materials are prohibited without prior authorization.</a:t>
            </a:r>
            <a:endParaRPr sz="8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502533" y="1253331"/>
            <a:ext cx="11014277" cy="462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4906460" y="252563"/>
            <a:ext cx="661035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0" y="6575476"/>
            <a:ext cx="12109622" cy="3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© 2026 University of Southeastern Philippines |</a:t>
            </a:r>
            <a:r>
              <a:rPr lang="en-US" sz="850" b="0" i="0" u="none" strike="noStrike" cap="non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All Rights Reserved. This presentation contains confidential and proprietary information. Photography, video, and audio recording of these materials are prohibited without prior authorization.</a:t>
            </a:r>
            <a:endParaRPr sz="85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 txBox="1">
            <a:spLocks noGrp="1"/>
          </p:cNvSpPr>
          <p:nvPr>
            <p:ph type="body" idx="1"/>
          </p:nvPr>
        </p:nvSpPr>
        <p:spPr>
          <a:xfrm>
            <a:off x="502533" y="1253331"/>
            <a:ext cx="11014277" cy="462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2"/>
          </p:nvPr>
        </p:nvSpPr>
        <p:spPr>
          <a:xfrm>
            <a:off x="4906460" y="252563"/>
            <a:ext cx="661035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/>
          <p:nvPr/>
        </p:nvSpPr>
        <p:spPr>
          <a:xfrm>
            <a:off x="0" y="6624904"/>
            <a:ext cx="12109622" cy="3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© 2026 University of Southeastern Philippines |</a:t>
            </a:r>
            <a:r>
              <a:rPr lang="en-US" sz="850" b="0" i="0" u="none" strike="noStrike" cap="none">
                <a:solidFill>
                  <a:srgbClr val="3A3A3A"/>
                </a:solidFill>
                <a:latin typeface="Arial"/>
                <a:ea typeface="Arial"/>
                <a:cs typeface="Arial"/>
                <a:sym typeface="Arial"/>
              </a:rPr>
              <a:t> All Rights Reserved. This presentation contains confidential and proprietary information. Photography, video, and audio recording of these materials are prohibited without prior authorization.</a:t>
            </a:r>
            <a:endParaRPr sz="850" b="0" i="0" u="none" strike="noStrike" cap="none">
              <a:solidFill>
                <a:srgbClr val="3A3A3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wo Content">
  <p:cSld name="3_Two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>
            <a:spLocks noGrp="1"/>
          </p:cNvSpPr>
          <p:nvPr>
            <p:ph type="body" idx="1"/>
          </p:nvPr>
        </p:nvSpPr>
        <p:spPr>
          <a:xfrm>
            <a:off x="502533" y="972272"/>
            <a:ext cx="11014277" cy="5116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2"/>
          </p:nvPr>
        </p:nvSpPr>
        <p:spPr>
          <a:xfrm>
            <a:off x="502533" y="252563"/>
            <a:ext cx="661035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2pPr>
            <a:lvl3pPr marL="1371600" lvl="2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/>
          <p:nvPr/>
        </p:nvSpPr>
        <p:spPr>
          <a:xfrm>
            <a:off x="0" y="6624904"/>
            <a:ext cx="12109622" cy="307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2026 University of Southeastern Philippines |</a:t>
            </a:r>
            <a:r>
              <a:rPr lang="en-US" sz="8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All Rights Reserved. This presentation contains confidential and proprietary information. Photography, video, and audio recording of these materials are prohibited without prior authorization.</a:t>
            </a:r>
            <a:endParaRPr sz="8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E60AE70-913B-3B0B-CC76-7ABEB6A5C7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44679-56A3-AB3F-B039-EC13E00ED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3" y="1253331"/>
            <a:ext cx="11014277" cy="4626608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307D8BF-E708-08D5-06D3-7387B3CF8C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06460" y="252563"/>
            <a:ext cx="6610350" cy="463550"/>
          </a:xfrm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defRPr sz="1800"/>
            </a:lvl1pPr>
            <a:lvl2pPr algn="r">
              <a:defRPr sz="2400"/>
            </a:lvl2pPr>
            <a:lvl3pPr algn="r">
              <a:defRPr sz="2000"/>
            </a:lvl3pPr>
            <a:lvl4pPr algn="r">
              <a:defRPr sz="1800"/>
            </a:lvl4pPr>
            <a:lvl5pPr algn="r">
              <a:defRPr sz="1800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78E2FE4-2844-F353-023D-6E6C6EEE6DEA}"/>
              </a:ext>
            </a:extLst>
          </p:cNvPr>
          <p:cNvSpPr txBox="1">
            <a:spLocks/>
          </p:cNvSpPr>
          <p:nvPr userDrawn="1"/>
        </p:nvSpPr>
        <p:spPr>
          <a:xfrm>
            <a:off x="0" y="6624904"/>
            <a:ext cx="12109622" cy="3072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50" b="1" i="0" spc="0" dirty="0">
                <a:solidFill>
                  <a:schemeClr val="bg1"/>
                </a:solidFill>
                <a:effectLst/>
              </a:rPr>
              <a:t>© 2026 University of Southeastern Philippines |</a:t>
            </a:r>
            <a:r>
              <a:rPr lang="en-US" sz="850" b="0" i="0" spc="0" dirty="0">
                <a:solidFill>
                  <a:schemeClr val="bg1"/>
                </a:solidFill>
                <a:effectLst/>
              </a:rPr>
              <a:t> All Rights Reserved. This presentation contains confidential and proprietary information. Photography, video, and audio recording of these materials are prohibited without prior authorization.</a:t>
            </a:r>
            <a:endParaRPr lang="en-PH" sz="850" b="0" spc="0" baseline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8904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ctrTitle"/>
          </p:nvPr>
        </p:nvSpPr>
        <p:spPr>
          <a:xfrm>
            <a:off x="1283854" y="3546763"/>
            <a:ext cx="9624291" cy="74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ubTitle" idx="1"/>
          </p:nvPr>
        </p:nvSpPr>
        <p:spPr>
          <a:xfrm>
            <a:off x="1523999" y="4534334"/>
            <a:ext cx="9144000" cy="83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ctrTitle"/>
          </p:nvPr>
        </p:nvSpPr>
        <p:spPr>
          <a:xfrm>
            <a:off x="1283854" y="3701180"/>
            <a:ext cx="9624291" cy="74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ubTitle" idx="1"/>
          </p:nvPr>
        </p:nvSpPr>
        <p:spPr>
          <a:xfrm>
            <a:off x="1523999" y="4534334"/>
            <a:ext cx="9144000" cy="83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2"/>
          </p:nvPr>
        </p:nvSpPr>
        <p:spPr>
          <a:xfrm>
            <a:off x="1283853" y="2610941"/>
            <a:ext cx="9623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3EEBC4-A124-E392-A2AB-BC7D659525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PH" b="1" dirty="0" smtClean="0"/>
              <a:t>OUTLINE</a:t>
            </a:r>
          </a:p>
          <a:p>
            <a:pPr lvl="2"/>
            <a:endParaRPr lang="en-PH" sz="2000" dirty="0" smtClean="0"/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BACKGROUND OF THE STUDY</a:t>
            </a:r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OBJECTIVES</a:t>
            </a:r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SIGNIFICANCE OF THE STUDY</a:t>
            </a:r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LITERATURE REVIEW</a:t>
            </a:r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METHODOLOGY</a:t>
            </a:r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RESULTS AND DISCUSSION</a:t>
            </a:r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CONCLUSION</a:t>
            </a:r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RECOMMENDATION</a:t>
            </a:r>
          </a:p>
          <a:p>
            <a:pPr lvl="2">
              <a:lnSpc>
                <a:spcPct val="100000"/>
              </a:lnSpc>
            </a:pPr>
            <a:r>
              <a:rPr lang="en-PH" sz="2000" dirty="0" smtClean="0"/>
              <a:t>REFERENCES</a:t>
            </a:r>
            <a:endParaRPr lang="en-PH" sz="2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19534-509B-17D7-6B08-C5D3B724BD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16628" y="252563"/>
            <a:ext cx="9100181" cy="463550"/>
          </a:xfrm>
        </p:spPr>
        <p:txBody>
          <a:bodyPr/>
          <a:lstStyle/>
          <a:p>
            <a:r>
              <a:rPr lang="en-PH" sz="1200" dirty="0" smtClean="0"/>
              <a:t>INTEGRATED DRAINAGE DELINEATION, POLLUTANT LOAD ASSESSMENT AND DECENTRALIZED WASTEWATER TREATMENT FACILITY SITE SELECTION IN TAGUM MAGUGPO CREEK: A DECISION SUPPORT FRAMEWORK</a:t>
            </a:r>
            <a:endParaRPr lang="en-PH" sz="1200" dirty="0"/>
          </a:p>
        </p:txBody>
      </p:sp>
    </p:spTree>
    <p:extLst>
      <p:ext uri="{BB962C8B-B14F-4D97-AF65-F5344CB8AC3E}">
        <p14:creationId xmlns:p14="http://schemas.microsoft.com/office/powerpoint/2010/main" val="392755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ctrTitle"/>
          </p:nvPr>
        </p:nvSpPr>
        <p:spPr>
          <a:xfrm>
            <a:off x="1283854" y="3333506"/>
            <a:ext cx="9624291" cy="87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</a:pPr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ubTitle" idx="1"/>
          </p:nvPr>
        </p:nvSpPr>
        <p:spPr>
          <a:xfrm>
            <a:off x="1524000" y="4296517"/>
            <a:ext cx="9144000" cy="622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ctrTitle"/>
          </p:nvPr>
        </p:nvSpPr>
        <p:spPr>
          <a:xfrm>
            <a:off x="1283854" y="3680745"/>
            <a:ext cx="9624291" cy="87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</a:pP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"/>
          </p:nvPr>
        </p:nvSpPr>
        <p:spPr>
          <a:xfrm>
            <a:off x="1524000" y="4643756"/>
            <a:ext cx="9144000" cy="622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body" idx="2"/>
          </p:nvPr>
        </p:nvSpPr>
        <p:spPr>
          <a:xfrm>
            <a:off x="1284719" y="2805729"/>
            <a:ext cx="96234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502533" y="1253331"/>
            <a:ext cx="11014277" cy="462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2"/>
          </p:nvPr>
        </p:nvSpPr>
        <p:spPr>
          <a:xfrm>
            <a:off x="4906460" y="252563"/>
            <a:ext cx="661035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body" idx="1"/>
          </p:nvPr>
        </p:nvSpPr>
        <p:spPr>
          <a:xfrm>
            <a:off x="502533" y="1253331"/>
            <a:ext cx="11014277" cy="462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body" idx="2"/>
          </p:nvPr>
        </p:nvSpPr>
        <p:spPr>
          <a:xfrm>
            <a:off x="4906460" y="252563"/>
            <a:ext cx="661035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body" idx="1"/>
          </p:nvPr>
        </p:nvSpPr>
        <p:spPr>
          <a:xfrm>
            <a:off x="502533" y="1253331"/>
            <a:ext cx="11014277" cy="462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body" idx="2"/>
          </p:nvPr>
        </p:nvSpPr>
        <p:spPr>
          <a:xfrm>
            <a:off x="4906460" y="252563"/>
            <a:ext cx="6610350" cy="46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3337560"/>
            <a:ext cx="103327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Evaluation Of Land And Water Resource Management For Pantaron Range, Mindanao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572000"/>
            <a:ext cx="8138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Arial"/>
              </a:rPr>
              <a:t>JOSHUA S. DE LEON
MSE–Land and Water Resources Engineering and Technology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961419"/>
                </a:solidFill>
                <a:latin typeface="Arial"/>
              </a:rPr>
              <a:t>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83464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Arial"/>
              </a:rPr>
              <a:t>OUTLINE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069848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The management problem and research gap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Objectives and significance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50592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96312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Land-resource assessment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09544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Water-resource assessment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77056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922776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Management-response evaluation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590288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636008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Validation, integration, and expected outputs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961419"/>
                </a:solidFill>
                <a:latin typeface="Arial"/>
              </a:rPr>
              <a:t>THE MANAGEMENT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83464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Arial"/>
              </a:rPr>
              <a:t>CHAPTER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069848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Pantaron evidence is dispersed across forest, land, watershed, governance, and downstream basin 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Reported pressures differ in date and geographic scope; they are not measured range-wide conditions.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50592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96312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Remote sensing can evaluate resource condition—but not management practice or effectiveness by itself.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09544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A common catchment framework is needed to connect upstream land condition, water pathways, and management 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961419"/>
                </a:solidFill>
                <a:latin typeface="Arial"/>
              </a:rPr>
              <a:t>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83464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Arial"/>
              </a:rPr>
              <a:t>CHAPTER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069848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What land and water resource conditions occur in selected Pantaron-linked catchments?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Which pressures and risks are supported by spatial or field evidence?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50592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96312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What management responses are documented, where, and with what implementation evidence?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09544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Which areas need protection, restoration, sustainable land management, monitoring, or further hydrologic investigation?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961419"/>
                </a:solidFill>
                <a:latin typeface="Arial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83464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Arial"/>
              </a:rPr>
              <a:t>CHAPTER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069848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1  Delineate selected management catchments and relate them to a verified Pantaron boundary.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2  Evaluate land cover/forest condition, terrain, riparian cover, and erosion susceptibility.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50592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96312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3  Evaluate rainfall, drainage, surface-water occurrence, and targeted field water conditions.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09544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4  Inventory and map documented management responses and governance arrangements.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77056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922776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5  Classify management needs using transparent rules, evidence strength, and uncertainty.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961419"/>
                </a:solidFill>
                <a:latin typeface="Arial"/>
              </a:rPr>
              <a:t>CONCEPTUAL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83464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Arial"/>
              </a:rPr>
              <a:t>CHAPTER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069848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DRIVERS/PRESSURES  •  reported and verified land/water pressures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STATE  •  land cover, forest configuration, terrain, riparian condition, rainfall, drainage, surface water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50592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96312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RESPONSE  •  protection, restoration, conservation, monitoring, water management, governance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09544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EVALUATION  •  independent validation, sensitivity, evidence strength, and management-need classification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961419"/>
                </a:solidFill>
                <a:latin typeface="Arial"/>
              </a:rPr>
              <a:t>LAND-RESOURCE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83464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Arial"/>
              </a:rPr>
              <a:t>CHAPTER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069848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Sentinel-2 L2A seasonal composites with cloud, shadow, invalid-pixel, and terrain-effect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Validated land-cover classes; comparable change only when both periods have adequate reference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50592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96312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Forest patch, edge/core, and riparian-cover metrics at defensible analysis scales.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09544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Slope and terrain constraints; erosion susceptibility as the core output.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77056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922776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RUSLE only if R, K, LS, C, P inputs and validation are defensible—otherwise no soil-loss-rate claim.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961419"/>
                </a:solidFill>
                <a:latin typeface="Arial"/>
              </a:rPr>
              <a:t>WATER-RESOURCE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83464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Arial"/>
              </a:rPr>
              <a:t>CHAPTER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069848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Conditioned DEM, verified outlets, complete catchments, and threshold-tested drainage.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CHIRPS v3 rainfall totals, seasonality, anomalies, and dry spells at native 0.05°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50592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96312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Surface-water occurrence only where observation density and mixed pixels permit.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09544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Targeted field measurements: stream geometry/flow and calibrated temperature, pH, EC, DO, turbidity where feasible.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77056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922776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Single visits are snapshots—not dependable supply, long-term quality, or regulatory compliance.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961419"/>
                </a:solidFill>
                <a:latin typeface="Arial"/>
              </a:rPr>
              <a:t>MANAGEMENT-RESPONSE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83464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Arial"/>
              </a:rPr>
              <a:t>CHAPTER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069848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Review plans, legal instruments, agency projects, restoration records, monitoring reports, and authorized local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Record responsible institution, location, period, intended outcome, implementation evidence, and monitoring indicator.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50592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96312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Distinguish planned, implemented, monitored, and evaluated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09544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Claim effectiveness only with intervention exposure, timing, outcome evidence, and a defensible comparison.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77056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922776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Interviews require adviser approval, ethics clearance, permission, and protection of sensitive knowledge.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961419"/>
                </a:solidFill>
                <a:latin typeface="Arial"/>
              </a:rPr>
              <a:t>SAMPLING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83464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Arial"/>
              </a:rPr>
              <a:t>CHAPTER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069848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Select 2–4 catchments by Pantaron relationship, management relevance, contrast, data completeness, and access.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Use independent stratified probability samples for land-cover accuracy; separate training, tuning, and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50592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96312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Target field sites toward uncertain classes, riparian condition, erosion indicators, and accessible streams.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09544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Record coordinates, time, photos, observer confidence, calibration, recent weather, and access limitations.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77056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922776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Report confusion matrix, class accuracy, area uncertainty, and parameter sensitivity.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961419"/>
                </a:solidFill>
                <a:latin typeface="Arial"/>
              </a:rPr>
              <a:t>INTEGRATION FOR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83464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Arial"/>
              </a:rPr>
              <a:t>CHAPTER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069848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Compare catchments using land condition, water condition, pressure, and response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Apply explicit decision rules—never an unexplained weighted suitability score.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50592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96312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Assign needs: PROTECT • RESTORE • SUSTAINABLE LAND MANAGEMENT • MONITOR • INVESTIGATE.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09544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Test alternative buffers, thresholds, class errors, outlet positions, and rainfall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77056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922776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Attach evidence strength and limitations to every mapped recommendation.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961419"/>
                </a:solidFill>
                <a:latin typeface="Arial"/>
              </a:rPr>
              <a:t>EXPECTED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83464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Arial"/>
              </a:rPr>
              <a:t>OUTPUTS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069848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Verified Pantaron-reference and management-catchment 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Land-cover/forest, terrain, riparian, and erosion-susceptibility outputs.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50592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96312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Rainfall, drainage, surface-water, and field-observation summaries.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09544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Management-intervention inventory and spatial coverage map.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77056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922776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Catchment management-needs matrix with uncertainty and responsible planning use.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56032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961419"/>
                </a:solidFill>
                <a:latin typeface="Arial"/>
              </a:rPr>
              <a:t>CRITICAL ITEMS TO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83464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6E6E6E"/>
                </a:solidFill>
                <a:latin typeface="Arial"/>
              </a:rPr>
              <a:t>GAPS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24128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069848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Authoritative Pantaron boundary, outlets, and selected catchments.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Comparable imagery periods, class scheme, and validation sample-size calculation.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50592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496312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Hydrography, rainfall gauges, field access, instruments, permissions, and safety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63824"/>
            <a:ext cx="108356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09544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Official management plans/intervention records and research-ethics determination.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77056"/>
            <a:ext cx="10835640" cy="621792"/>
          </a:xfrm>
          <a:prstGeom prst="roundRect">
            <a:avLst/>
          </a:prstGeom>
          <a:solidFill>
            <a:srgbClr val="F7F4F2"/>
          </a:solidFill>
          <a:ln>
            <a:solidFill>
              <a:srgbClr val="DE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922776"/>
            <a:ext cx="103784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82828"/>
                </a:solidFill>
                <a:latin typeface="Arial"/>
              </a:rPr>
              <a:t>Primary references for accuracy-adjusted area, landscape metrics, erosion susceptibility, field water QA/QC, and evaluation design.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43000" y="365760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THE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4434840"/>
            <a:ext cx="93268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0">
                <a:solidFill>
                  <a:srgbClr val="FFFFFF"/>
                </a:solidFill>
                <a:latin typeface="Arial"/>
              </a:rPr>
              <a:t>A defensible evaluation connecting land condition, water condition, management response, and uncertainty within selected Pantaron-linked catchments.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Widescreen</PresentationFormat>
  <Paragraphs>13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 Black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Al Kristian Lou Presente</cp:lastModifiedBy>
  <cp:revision>1</cp:revision>
  <dcterms:modified xsi:type="dcterms:W3CDTF">2026-08-13T01:50:21Z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